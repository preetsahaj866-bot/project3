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2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8CDC"/>
    <a:srgbClr val="620A58"/>
    <a:srgbClr val="920E82"/>
    <a:srgbClr val="CD05BF"/>
    <a:srgbClr val="6A0A5F"/>
    <a:srgbClr val="34182D"/>
    <a:srgbClr val="F7ABEE"/>
    <a:srgbClr val="CC9900"/>
    <a:srgbClr val="E3B57A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34" autoAdjust="0"/>
    <p:restoredTop sz="94648" autoAdjust="0"/>
  </p:normalViewPr>
  <p:slideViewPr>
    <p:cSldViewPr snapToGrid="0">
      <p:cViewPr varScale="1">
        <p:scale>
          <a:sx n="82" d="100"/>
          <a:sy n="82" d="100"/>
        </p:scale>
        <p:origin x="9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2D5049-BCEA-4652-9613-FF8F79397837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F29C9-A6FC-42A6-88DF-BACEF3AB5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040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F29C9-A6FC-42A6-88DF-BACEF3AB552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938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57A715D-2F46-43A3-A33D-5245A0C1D0F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6AEC396-7FF0-41F6-81B1-4623BC2E705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201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715D-2F46-43A3-A33D-5245A0C1D0F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C396-7FF0-41F6-81B1-4623BC2E7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975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715D-2F46-43A3-A33D-5245A0C1D0F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C396-7FF0-41F6-81B1-4623BC2E705A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14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715D-2F46-43A3-A33D-5245A0C1D0F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C396-7FF0-41F6-81B1-4623BC2E7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710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715D-2F46-43A3-A33D-5245A0C1D0F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C396-7FF0-41F6-81B1-4623BC2E705A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290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715D-2F46-43A3-A33D-5245A0C1D0F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C396-7FF0-41F6-81B1-4623BC2E705A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677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715D-2F46-43A3-A33D-5245A0C1D0F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C396-7FF0-41F6-81B1-4623BC2E7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83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715D-2F46-43A3-A33D-5245A0C1D0F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C396-7FF0-41F6-81B1-4623BC2E705A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441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715D-2F46-43A3-A33D-5245A0C1D0F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C396-7FF0-41F6-81B1-4623BC2E7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760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715D-2F46-43A3-A33D-5245A0C1D0F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C396-7FF0-41F6-81B1-4623BC2E7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30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715D-2F46-43A3-A33D-5245A0C1D0F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C396-7FF0-41F6-81B1-4623BC2E705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289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715D-2F46-43A3-A33D-5245A0C1D0F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C396-7FF0-41F6-81B1-4623BC2E705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758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715D-2F46-43A3-A33D-5245A0C1D0F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C396-7FF0-41F6-81B1-4623BC2E7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328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715D-2F46-43A3-A33D-5245A0C1D0F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C396-7FF0-41F6-81B1-4623BC2E705A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067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715D-2F46-43A3-A33D-5245A0C1D0F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C396-7FF0-41F6-81B1-4623BC2E705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700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715D-2F46-43A3-A33D-5245A0C1D0F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C396-7FF0-41F6-81B1-4623BC2E705A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2558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715D-2F46-43A3-A33D-5245A0C1D0F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EC396-7FF0-41F6-81B1-4623BC2E705A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347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57A715D-2F46-43A3-A33D-5245A0C1D0F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6AEC396-7FF0-41F6-81B1-4623BC2E70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04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3" r:id="rId1"/>
    <p:sldLayoutId id="2147484124" r:id="rId2"/>
    <p:sldLayoutId id="2147484125" r:id="rId3"/>
    <p:sldLayoutId id="2147484126" r:id="rId4"/>
    <p:sldLayoutId id="2147484127" r:id="rId5"/>
    <p:sldLayoutId id="2147484128" r:id="rId6"/>
    <p:sldLayoutId id="2147484129" r:id="rId7"/>
    <p:sldLayoutId id="2147484130" r:id="rId8"/>
    <p:sldLayoutId id="2147484131" r:id="rId9"/>
    <p:sldLayoutId id="2147484132" r:id="rId10"/>
    <p:sldLayoutId id="2147484133" r:id="rId11"/>
    <p:sldLayoutId id="2147484134" r:id="rId12"/>
    <p:sldLayoutId id="2147484135" r:id="rId13"/>
    <p:sldLayoutId id="2147484136" r:id="rId14"/>
    <p:sldLayoutId id="2147484137" r:id="rId15"/>
    <p:sldLayoutId id="2147484138" r:id="rId16"/>
    <p:sldLayoutId id="214748413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9B9FA-825C-B1DC-F156-AD29C7B2B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3934" y="1871131"/>
            <a:ext cx="6824134" cy="2700869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  <a:latin typeface="Algerian" panose="04020705040A02060702" pitchFamily="82" charset="0"/>
              </a:rPr>
              <a:t>Title-2 Issues in Engineering Ethics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379B9-EBCF-3B79-8250-25B337705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-1899266" y="7328309"/>
            <a:ext cx="5301227" cy="101927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0880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BA8CDC"/>
          </a:fgClr>
          <a:bgClr>
            <a:srgbClr val="F7ABEE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E4DF8-0F00-C575-2EB6-C474B3B5B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077" y="765110"/>
            <a:ext cx="6969967" cy="569168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rgbClr val="620A58"/>
                </a:solidFill>
              </a:rPr>
              <a:t>What is Engineering Ethics?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9EA21-0284-92D3-B434-A1F4EB975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5779" y="1334278"/>
            <a:ext cx="6988627" cy="4693297"/>
          </a:xfrm>
        </p:spPr>
        <p:txBody>
          <a:bodyPr>
            <a:normAutofit lnSpcReduction="10000"/>
          </a:bodyPr>
          <a:lstStyle/>
          <a:p>
            <a:r>
              <a:rPr lang="en-US" sz="3600" b="1" i="1" dirty="0">
                <a:solidFill>
                  <a:srgbClr val="920E82"/>
                </a:solidFill>
              </a:rPr>
              <a:t>Engineering ethics is the study of moral and ethical issues in engineering practice.</a:t>
            </a:r>
          </a:p>
          <a:p>
            <a:r>
              <a:rPr lang="en-US" sz="3600" b="1" i="1" dirty="0">
                <a:solidFill>
                  <a:srgbClr val="920E82"/>
                </a:solidFill>
              </a:rPr>
              <a:t>It ensures engineers act responsibly toward society, environment, and profession.</a:t>
            </a:r>
          </a:p>
          <a:p>
            <a:r>
              <a:rPr lang="en-US" sz="3600" b="1" i="1" dirty="0">
                <a:solidFill>
                  <a:srgbClr val="920E82"/>
                </a:solidFill>
              </a:rPr>
              <a:t>Helps prevent harm and promotes safety, fairness, and sustainability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ADAC83A-D2A3-8D33-ECA8-A3005973E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406" y="765110"/>
            <a:ext cx="3903768" cy="532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300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0877E-8A33-F9B7-1D02-36917E46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531" y="723480"/>
            <a:ext cx="6813734" cy="1115367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IMPORTANCE OF ENGINEERING ETHCS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1012F-6850-A01E-96C9-BBAF32359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5318" y="2130251"/>
            <a:ext cx="6681947" cy="3686349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ct val="0"/>
              </a:spcBef>
            </a:pPr>
            <a:r>
              <a:rPr lang="en-US" sz="3900" b="1" dirty="0">
                <a:ln w="3175" cmpd="sng">
                  <a:noFill/>
                </a:ln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  <a:ea typeface="+mj-ea"/>
                <a:cs typeface="+mj-cs"/>
              </a:rPr>
              <a:t>Why Ethics Matter in Engineering Content ?</a:t>
            </a:r>
          </a:p>
          <a:p>
            <a:pPr algn="l"/>
            <a:r>
              <a:rPr lang="en-US" sz="3900" b="1" i="1" dirty="0">
                <a:ln w="3175" cmpd="sng">
                  <a:noFill/>
                </a:ln>
                <a:solidFill>
                  <a:srgbClr val="CC9900"/>
                </a:solidFill>
                <a:latin typeface="Algerian" panose="04020705040A02060702" pitchFamily="82" charset="0"/>
                <a:ea typeface="+mj-ea"/>
                <a:cs typeface="+mj-cs"/>
              </a:rPr>
              <a:t>E</a:t>
            </a:r>
            <a:r>
              <a:rPr lang="en-US" sz="2800" i="1" dirty="0">
                <a:solidFill>
                  <a:srgbClr val="CC9900"/>
                </a:solidFill>
                <a:latin typeface="Bahnschrift" panose="020B0502040204020203" pitchFamily="34" charset="0"/>
              </a:rPr>
              <a:t>nsures public safety and welfare</a:t>
            </a:r>
          </a:p>
          <a:p>
            <a:pPr algn="l"/>
            <a:r>
              <a:rPr lang="en-US" sz="2800" i="1" dirty="0">
                <a:solidFill>
                  <a:srgbClr val="CC9900"/>
                </a:solidFill>
                <a:latin typeface="Algerian" panose="04020705040A02060702" pitchFamily="82" charset="0"/>
              </a:rPr>
              <a:t>P</a:t>
            </a:r>
            <a:r>
              <a:rPr lang="en-US" sz="2800" i="1" dirty="0">
                <a:solidFill>
                  <a:srgbClr val="CC9900"/>
                </a:solidFill>
                <a:latin typeface="Bahnschrift" panose="020B0502040204020203" pitchFamily="34" charset="0"/>
              </a:rPr>
              <a:t>romotes professional integrity</a:t>
            </a:r>
          </a:p>
          <a:p>
            <a:pPr algn="l"/>
            <a:r>
              <a:rPr lang="en-US" sz="2800" i="1" dirty="0">
                <a:solidFill>
                  <a:srgbClr val="CC9900"/>
                </a:solidFill>
                <a:latin typeface="Algerian" panose="04020705040A02060702" pitchFamily="82" charset="0"/>
              </a:rPr>
              <a:t>P</a:t>
            </a:r>
            <a:r>
              <a:rPr lang="en-US" sz="2800" i="1" dirty="0">
                <a:solidFill>
                  <a:srgbClr val="CC9900"/>
                </a:solidFill>
                <a:latin typeface="Bahnschrift" panose="020B0502040204020203" pitchFamily="34" charset="0"/>
              </a:rPr>
              <a:t>revents legal issues and professional misconduct</a:t>
            </a:r>
          </a:p>
          <a:p>
            <a:pPr algn="l"/>
            <a:r>
              <a:rPr lang="en-US" sz="2800" i="1" dirty="0">
                <a:solidFill>
                  <a:srgbClr val="CC9900"/>
                </a:solidFill>
                <a:latin typeface="Algerian" panose="04020705040A02060702" pitchFamily="82" charset="0"/>
              </a:rPr>
              <a:t>E</a:t>
            </a:r>
            <a:r>
              <a:rPr lang="en-US" sz="2800" i="1" dirty="0">
                <a:solidFill>
                  <a:srgbClr val="CC9900"/>
                </a:solidFill>
                <a:latin typeface="Bahnschrift" panose="020B0502040204020203" pitchFamily="34" charset="0"/>
              </a:rPr>
              <a:t>ncourages accountability and sustainability</a:t>
            </a:r>
            <a:endParaRPr lang="en-IN" sz="2800" i="1" dirty="0">
              <a:solidFill>
                <a:srgbClr val="CC9900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BB6457D6-CF74-D466-855D-7E5E9E196407}"/>
              </a:ext>
            </a:extLst>
          </p:cNvPr>
          <p:cNvSpPr/>
          <p:nvPr/>
        </p:nvSpPr>
        <p:spPr>
          <a:xfrm>
            <a:off x="1033822" y="3351752"/>
            <a:ext cx="190918" cy="18962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040B512C-80A0-B595-6428-3DD357FBC2BA}"/>
              </a:ext>
            </a:extLst>
          </p:cNvPr>
          <p:cNvSpPr/>
          <p:nvPr/>
        </p:nvSpPr>
        <p:spPr>
          <a:xfrm>
            <a:off x="1023774" y="4378792"/>
            <a:ext cx="200966" cy="15449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68A24848-6403-F363-15AD-5FDC8F403B23}"/>
              </a:ext>
            </a:extLst>
          </p:cNvPr>
          <p:cNvSpPr/>
          <p:nvPr/>
        </p:nvSpPr>
        <p:spPr>
          <a:xfrm>
            <a:off x="1004835" y="5138859"/>
            <a:ext cx="200966" cy="15449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F62C4DA1-6663-8FCA-CFFD-B5F395AE38A3}"/>
              </a:ext>
            </a:extLst>
          </p:cNvPr>
          <p:cNvSpPr/>
          <p:nvPr/>
        </p:nvSpPr>
        <p:spPr>
          <a:xfrm>
            <a:off x="1033822" y="3832782"/>
            <a:ext cx="200966" cy="15449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9E7CF6-46AB-7005-C3B8-FF84E6CCA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886" y="1730478"/>
            <a:ext cx="3269975" cy="368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87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B5E29-9C46-7683-BF49-6569420BE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7" y="80387"/>
            <a:ext cx="7135280" cy="1492179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COMMON ETHICAL ISSUE IN ENGINEERING ETHICS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52F332-7D1B-4DD7-98E8-D2A4E0E28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1499" y="1572566"/>
            <a:ext cx="7783333" cy="5009104"/>
          </a:xfrm>
        </p:spPr>
        <p:txBody>
          <a:bodyPr>
            <a:normAutofit fontScale="77500" lnSpcReduction="20000"/>
          </a:bodyPr>
          <a:lstStyle/>
          <a:p>
            <a:r>
              <a:rPr lang="en-US" sz="5200" dirty="0">
                <a:solidFill>
                  <a:srgbClr val="002060"/>
                </a:solidFill>
                <a:latin typeface="Algerian" panose="04020705040A02060702" pitchFamily="82" charset="0"/>
              </a:rPr>
              <a:t>Key Issues in Engineering Ethics</a:t>
            </a:r>
          </a:p>
          <a:p>
            <a:pPr algn="l"/>
            <a:r>
              <a:rPr lang="en-US" sz="36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Violations</a:t>
            </a:r>
            <a:r>
              <a:rPr lang="en-US" sz="3600" i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:</a:t>
            </a:r>
            <a:r>
              <a:rPr lang="en-US" sz="3600" i="1" dirty="0">
                <a:solidFill>
                  <a:srgbClr val="002060"/>
                </a:solidFill>
              </a:rPr>
              <a:t> Ignoring safety </a:t>
            </a:r>
            <a:r>
              <a:rPr lang="en-US" sz="3600" i="1" dirty="0" err="1">
                <a:solidFill>
                  <a:srgbClr val="002060"/>
                </a:solidFill>
              </a:rPr>
              <a:t>Safetystandards</a:t>
            </a:r>
            <a:r>
              <a:rPr lang="en-US" sz="3600" i="1" dirty="0">
                <a:solidFill>
                  <a:srgbClr val="002060"/>
                </a:solidFill>
              </a:rPr>
              <a:t> or shortcuts</a:t>
            </a:r>
          </a:p>
          <a:p>
            <a:pPr algn="l"/>
            <a:r>
              <a:rPr lang="en-US" sz="3600" dirty="0">
                <a:solidFill>
                  <a:srgbClr val="002060"/>
                </a:solidFill>
              </a:rPr>
              <a:t> </a:t>
            </a:r>
            <a:r>
              <a:rPr lang="en-US" sz="36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Conflict of Interest:</a:t>
            </a:r>
            <a:r>
              <a:rPr lang="en-US" sz="3600" dirty="0">
                <a:solidFill>
                  <a:srgbClr val="002060"/>
                </a:solidFill>
              </a:rPr>
              <a:t> </a:t>
            </a:r>
            <a:r>
              <a:rPr lang="en-US" sz="3600" i="1" dirty="0">
                <a:solidFill>
                  <a:srgbClr val="002060"/>
                </a:solidFill>
              </a:rPr>
              <a:t>Personal gain over professional duty</a:t>
            </a:r>
          </a:p>
          <a:p>
            <a:pPr algn="l"/>
            <a:r>
              <a:rPr lang="en-US" sz="3600" dirty="0">
                <a:solidFill>
                  <a:srgbClr val="002060"/>
                </a:solidFill>
              </a:rPr>
              <a:t> </a:t>
            </a:r>
            <a:r>
              <a:rPr lang="en-US" sz="3600" b="1" dirty="0">
                <a:solidFill>
                  <a:srgbClr val="002060"/>
                </a:solidFill>
                <a:latin typeface="Arial Rounded MT Bold" panose="020F0704030504030204" pitchFamily="34" charset="0"/>
              </a:rPr>
              <a:t>Environmental Negligence</a:t>
            </a:r>
            <a:r>
              <a:rPr lang="en-US" sz="3600" b="1" i="1" dirty="0">
                <a:solidFill>
                  <a:srgbClr val="002060"/>
                </a:solidFill>
              </a:rPr>
              <a:t>:</a:t>
            </a:r>
            <a:r>
              <a:rPr lang="en-US" sz="3600" i="1" dirty="0">
                <a:solidFill>
                  <a:srgbClr val="002060"/>
                </a:solidFill>
              </a:rPr>
              <a:t> Lack of sustainable practices</a:t>
            </a:r>
          </a:p>
          <a:p>
            <a:pPr algn="l"/>
            <a:r>
              <a:rPr lang="en-US" sz="3600" dirty="0">
                <a:solidFill>
                  <a:srgbClr val="002060"/>
                </a:solidFill>
              </a:rPr>
              <a:t> </a:t>
            </a:r>
            <a:r>
              <a:rPr lang="en-US" sz="36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Data Falsification: </a:t>
            </a:r>
            <a:r>
              <a:rPr lang="en-US" sz="3600" i="1" dirty="0">
                <a:solidFill>
                  <a:srgbClr val="002060"/>
                </a:solidFill>
              </a:rPr>
              <a:t>Misrepresentation of results or reports</a:t>
            </a:r>
          </a:p>
          <a:p>
            <a:pPr algn="l"/>
            <a:r>
              <a:rPr lang="en-US" sz="36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Intellectual Property Misuse: </a:t>
            </a:r>
            <a:r>
              <a:rPr lang="en-US" sz="3600" i="1" dirty="0">
                <a:solidFill>
                  <a:srgbClr val="002060"/>
                </a:solidFill>
              </a:rPr>
              <a:t>Plagiarism or patent violations</a:t>
            </a:r>
            <a:endParaRPr lang="en-IN" sz="3600" i="1" dirty="0">
              <a:solidFill>
                <a:srgbClr val="002060"/>
              </a:solidFill>
            </a:endParaRPr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6ED5270E-125D-F904-3472-3672ACE602B0}"/>
              </a:ext>
            </a:extLst>
          </p:cNvPr>
          <p:cNvSpPr/>
          <p:nvPr/>
        </p:nvSpPr>
        <p:spPr>
          <a:xfrm>
            <a:off x="66666" y="2756338"/>
            <a:ext cx="351693" cy="246186"/>
          </a:xfrm>
          <a:prstGeom prst="star5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9D613BB9-E0F8-95BC-735E-90F0E040C46D}"/>
              </a:ext>
            </a:extLst>
          </p:cNvPr>
          <p:cNvSpPr/>
          <p:nvPr/>
        </p:nvSpPr>
        <p:spPr>
          <a:xfrm>
            <a:off x="173526" y="3325590"/>
            <a:ext cx="351693" cy="246186"/>
          </a:xfrm>
          <a:prstGeom prst="star5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E56779FE-E507-D47D-904B-7893D1E88A46}"/>
              </a:ext>
            </a:extLst>
          </p:cNvPr>
          <p:cNvSpPr/>
          <p:nvPr/>
        </p:nvSpPr>
        <p:spPr>
          <a:xfrm>
            <a:off x="135652" y="4113976"/>
            <a:ext cx="351693" cy="246186"/>
          </a:xfrm>
          <a:prstGeom prst="star5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CD367287-3C75-8BED-6D88-CC80F75BF432}"/>
              </a:ext>
            </a:extLst>
          </p:cNvPr>
          <p:cNvSpPr/>
          <p:nvPr/>
        </p:nvSpPr>
        <p:spPr>
          <a:xfrm>
            <a:off x="135652" y="4965288"/>
            <a:ext cx="351693" cy="246186"/>
          </a:xfrm>
          <a:prstGeom prst="star5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44FB4E6C-D2D1-D066-79F9-599569C5D445}"/>
              </a:ext>
            </a:extLst>
          </p:cNvPr>
          <p:cNvSpPr/>
          <p:nvPr/>
        </p:nvSpPr>
        <p:spPr>
          <a:xfrm>
            <a:off x="73043" y="5816600"/>
            <a:ext cx="351693" cy="246186"/>
          </a:xfrm>
          <a:prstGeom prst="star5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50EAD7-01C4-6FBE-290F-ADEA00B2B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958" y="821094"/>
            <a:ext cx="4072390" cy="499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55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rgbClr val="F7ABEE"/>
            </a:gs>
            <a:gs pos="72742">
              <a:srgbClr val="BA8CDC"/>
            </a:gs>
            <a:gs pos="97875">
              <a:srgbClr val="C189C3"/>
            </a:gs>
            <a:gs pos="95750">
              <a:srgbClr val="C786AA"/>
            </a:gs>
            <a:gs pos="91500">
              <a:srgbClr val="BA8CDC"/>
            </a:gs>
            <a:gs pos="100000">
              <a:srgbClr val="F7ABE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B0C15-6209-D716-B8F5-9D1D8CF3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583" y="149289"/>
            <a:ext cx="5887617" cy="1967807"/>
          </a:xfrm>
        </p:spPr>
        <p:txBody>
          <a:bodyPr>
            <a:noAutofit/>
          </a:bodyPr>
          <a:lstStyle/>
          <a:p>
            <a:r>
              <a:rPr lang="en-IN" sz="4400" dirty="0">
                <a:solidFill>
                  <a:srgbClr val="6A0A5F"/>
                </a:solidFill>
                <a:latin typeface="Algerian" panose="04020705040A02060702" pitchFamily="82" charset="0"/>
              </a:rPr>
              <a:t>CAUSES OF ETHICAL ISSUES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30117-CA7D-5DDB-F5CC-8799B630F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5069" y="2117096"/>
            <a:ext cx="7100595" cy="444232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D05BF"/>
                </a:solidFill>
                <a:latin typeface="Aptos Display" panose="020B0004020202020204" pitchFamily="34" charset="0"/>
              </a:rPr>
              <a:t>Title: Why Ethical Issues Arise</a:t>
            </a:r>
          </a:p>
          <a:p>
            <a:pPr algn="l"/>
            <a:r>
              <a:rPr lang="en-US" sz="3200" dirty="0">
                <a:solidFill>
                  <a:srgbClr val="7030A0"/>
                </a:solidFill>
                <a:latin typeface="Aptos Display" panose="020B0004020202020204" pitchFamily="34" charset="0"/>
              </a:rPr>
              <a:t>Pressure to meet deadlines or budgets</a:t>
            </a:r>
          </a:p>
          <a:p>
            <a:pPr algn="l"/>
            <a:r>
              <a:rPr lang="en-US" sz="3200" dirty="0">
                <a:solidFill>
                  <a:srgbClr val="7030A0"/>
                </a:solidFill>
                <a:latin typeface="Aptos Display" panose="020B0004020202020204" pitchFamily="34" charset="0"/>
              </a:rPr>
              <a:t>Lack of ethical awareness or training</a:t>
            </a:r>
          </a:p>
          <a:p>
            <a:pPr algn="l"/>
            <a:r>
              <a:rPr lang="en-US" sz="3200" dirty="0">
                <a:solidFill>
                  <a:srgbClr val="7030A0"/>
                </a:solidFill>
                <a:latin typeface="Aptos Display" panose="020B0004020202020204" pitchFamily="34" charset="0"/>
              </a:rPr>
              <a:t>Corruption or personal gain</a:t>
            </a:r>
          </a:p>
          <a:p>
            <a:pPr algn="l"/>
            <a:r>
              <a:rPr lang="en-US" sz="3200" dirty="0">
                <a:solidFill>
                  <a:srgbClr val="7030A0"/>
                </a:solidFill>
                <a:latin typeface="Aptos Display" panose="020B0004020202020204" pitchFamily="34" charset="0"/>
              </a:rPr>
              <a:t>Ambiguous policies and weak regulations</a:t>
            </a:r>
            <a:endParaRPr lang="en-IN" sz="3200" dirty="0">
              <a:solidFill>
                <a:srgbClr val="7030A0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349A4D6-ABFF-0973-4038-C21A2C440904}"/>
              </a:ext>
            </a:extLst>
          </p:cNvPr>
          <p:cNvSpPr/>
          <p:nvPr/>
        </p:nvSpPr>
        <p:spPr>
          <a:xfrm>
            <a:off x="765819" y="3019425"/>
            <a:ext cx="189333" cy="193046"/>
          </a:xfrm>
          <a:prstGeom prst="ellipse">
            <a:avLst/>
          </a:prstGeom>
          <a:solidFill>
            <a:srgbClr val="920E82"/>
          </a:solidFill>
          <a:ln>
            <a:solidFill>
              <a:srgbClr val="620A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E0F267-79A7-EDD0-2E28-9CC06CC34100}"/>
              </a:ext>
            </a:extLst>
          </p:cNvPr>
          <p:cNvSpPr/>
          <p:nvPr/>
        </p:nvSpPr>
        <p:spPr>
          <a:xfrm>
            <a:off x="765818" y="3665853"/>
            <a:ext cx="189333" cy="193046"/>
          </a:xfrm>
          <a:prstGeom prst="ellipse">
            <a:avLst/>
          </a:prstGeom>
          <a:solidFill>
            <a:srgbClr val="920E82"/>
          </a:solidFill>
          <a:ln>
            <a:solidFill>
              <a:srgbClr val="620A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86C3E5-1172-6315-F0DA-0BA24C907FB5}"/>
              </a:ext>
            </a:extLst>
          </p:cNvPr>
          <p:cNvSpPr/>
          <p:nvPr/>
        </p:nvSpPr>
        <p:spPr>
          <a:xfrm>
            <a:off x="765817" y="4369685"/>
            <a:ext cx="189333" cy="193046"/>
          </a:xfrm>
          <a:prstGeom prst="ellipse">
            <a:avLst/>
          </a:prstGeom>
          <a:solidFill>
            <a:srgbClr val="920E82"/>
          </a:solidFill>
          <a:ln>
            <a:solidFill>
              <a:srgbClr val="620A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577432-426A-8121-649E-D98AD1E29C49}"/>
              </a:ext>
            </a:extLst>
          </p:cNvPr>
          <p:cNvSpPr/>
          <p:nvPr/>
        </p:nvSpPr>
        <p:spPr>
          <a:xfrm>
            <a:off x="765817" y="4976994"/>
            <a:ext cx="189333" cy="193046"/>
          </a:xfrm>
          <a:prstGeom prst="ellipse">
            <a:avLst/>
          </a:prstGeom>
          <a:solidFill>
            <a:srgbClr val="920E82"/>
          </a:solidFill>
          <a:ln>
            <a:solidFill>
              <a:srgbClr val="620A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E28DA2-0A2E-772C-0A33-F15CD552B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944" y="994682"/>
            <a:ext cx="3760237" cy="378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02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rgbClr val="F7ABEE"/>
            </a:gs>
            <a:gs pos="0">
              <a:srgbClr val="BA8CDC"/>
            </a:gs>
            <a:gs pos="97875">
              <a:srgbClr val="C189C3"/>
            </a:gs>
            <a:gs pos="95750">
              <a:srgbClr val="C786AA"/>
            </a:gs>
            <a:gs pos="91500">
              <a:srgbClr val="BA8CDC"/>
            </a:gs>
            <a:gs pos="100000">
              <a:srgbClr val="F7ABE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7B25E-DF55-F417-5554-C3FF83D84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009" y="209304"/>
            <a:ext cx="7389845" cy="1073020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620A58"/>
                </a:solidFill>
                <a:latin typeface="Algerian" panose="04020705040A02060702" pitchFamily="82" charset="0"/>
              </a:rPr>
              <a:t>HOW TO ADDRESS ETHICAL ISSUES?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E64C1-4FA4-7EE2-819B-5EC207A88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3054" y="1692469"/>
            <a:ext cx="7270104" cy="4124131"/>
          </a:xfrm>
        </p:spPr>
        <p:txBody>
          <a:bodyPr>
            <a:normAutofit lnSpcReduction="10000"/>
          </a:bodyPr>
          <a:lstStyle/>
          <a:p>
            <a:r>
              <a:rPr lang="en-US" sz="3600" b="1" dirty="0">
                <a:solidFill>
                  <a:srgbClr val="002060"/>
                </a:solidFill>
              </a:rPr>
              <a:t>Title: Solutions &amp; Best Practices</a:t>
            </a:r>
          </a:p>
          <a:p>
            <a:pPr algn="l"/>
            <a:r>
              <a:rPr lang="en-US" sz="2800" dirty="0">
                <a:latin typeface="Bahnschrift" panose="020B0502040204020203" pitchFamily="34" charset="0"/>
              </a:rPr>
              <a:t>Education and training on professional ethics</a:t>
            </a:r>
          </a:p>
          <a:p>
            <a:pPr algn="l"/>
            <a:r>
              <a:rPr lang="en-US" sz="2800" dirty="0">
                <a:latin typeface="Bahnschrift" panose="020B0502040204020203" pitchFamily="34" charset="0"/>
              </a:rPr>
              <a:t>Strong adherence to codes of conduct</a:t>
            </a:r>
          </a:p>
          <a:p>
            <a:pPr algn="l"/>
            <a:r>
              <a:rPr lang="en-US" sz="2800" dirty="0">
                <a:latin typeface="Bahnschrift" panose="020B0502040204020203" pitchFamily="34" charset="0"/>
              </a:rPr>
              <a:t>Transparency and accountability in decision-making</a:t>
            </a:r>
          </a:p>
          <a:p>
            <a:pPr algn="l"/>
            <a:r>
              <a:rPr lang="en-US" sz="2800" dirty="0">
                <a:latin typeface="Bahnschrift" panose="020B0502040204020203" pitchFamily="34" charset="0"/>
              </a:rPr>
              <a:t>Regular audits and compliance checks</a:t>
            </a:r>
          </a:p>
          <a:p>
            <a:pPr algn="l"/>
            <a:r>
              <a:rPr lang="en-US" sz="2800" dirty="0">
                <a:latin typeface="Bahnschrift" panose="020B0502040204020203" pitchFamily="34" charset="0"/>
              </a:rPr>
              <a:t>Encouraging reporting of unethical practices</a:t>
            </a:r>
            <a:endParaRPr lang="en-IN" sz="2800" dirty="0">
              <a:latin typeface="Bahnschrift" panose="020B0502040204020203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D75FBF5-DCDC-8FD9-2A70-7EDA095A0D66}"/>
              </a:ext>
            </a:extLst>
          </p:cNvPr>
          <p:cNvSpPr/>
          <p:nvPr/>
        </p:nvSpPr>
        <p:spPr>
          <a:xfrm>
            <a:off x="455708" y="2498979"/>
            <a:ext cx="189333" cy="1930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620A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430E9C8-2C41-75CE-ED7C-94963CF640F8}"/>
              </a:ext>
            </a:extLst>
          </p:cNvPr>
          <p:cNvSpPr/>
          <p:nvPr/>
        </p:nvSpPr>
        <p:spPr>
          <a:xfrm>
            <a:off x="383721" y="3381022"/>
            <a:ext cx="189333" cy="1930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620A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CE3A07F-578A-10D2-B868-F70E83FA1BEC}"/>
              </a:ext>
            </a:extLst>
          </p:cNvPr>
          <p:cNvSpPr/>
          <p:nvPr/>
        </p:nvSpPr>
        <p:spPr>
          <a:xfrm>
            <a:off x="368135" y="3994350"/>
            <a:ext cx="189333" cy="1930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620A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8470C04-B46A-B5BF-509B-D72276B8E5D9}"/>
              </a:ext>
            </a:extLst>
          </p:cNvPr>
          <p:cNvSpPr/>
          <p:nvPr/>
        </p:nvSpPr>
        <p:spPr>
          <a:xfrm>
            <a:off x="352550" y="4901241"/>
            <a:ext cx="189333" cy="1930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620A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AC979B0-1AB7-044A-FDA5-AFD7F624F31A}"/>
              </a:ext>
            </a:extLst>
          </p:cNvPr>
          <p:cNvSpPr/>
          <p:nvPr/>
        </p:nvSpPr>
        <p:spPr>
          <a:xfrm>
            <a:off x="352550" y="5465633"/>
            <a:ext cx="189333" cy="1930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620A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7A1313-CD67-01BF-B42E-E851E9643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3854" y="578498"/>
            <a:ext cx="3669943" cy="477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960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0">
              <a:srgbClr val="F9C4A6"/>
            </a:gs>
            <a:gs pos="100000">
              <a:schemeClr val="accent1">
                <a:lumMod val="45000"/>
                <a:lumOff val="55000"/>
              </a:schemeClr>
            </a:gs>
            <a:gs pos="0">
              <a:srgbClr val="C189C3"/>
            </a:gs>
            <a:gs pos="68000">
              <a:srgbClr val="92D0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4AE6-7AA3-7BF9-7D2D-2C2CF1AC6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188" y="559836"/>
            <a:ext cx="5327779" cy="1212979"/>
          </a:xfrm>
        </p:spPr>
        <p:txBody>
          <a:bodyPr>
            <a:normAutofit/>
          </a:bodyPr>
          <a:lstStyle/>
          <a:p>
            <a:r>
              <a:rPr lang="en-IN" sz="6600" dirty="0">
                <a:solidFill>
                  <a:srgbClr val="00B050"/>
                </a:solidFill>
                <a:latin typeface="Algerian" panose="04020705040A02060702" pitchFamily="82" charset="0"/>
              </a:rPr>
              <a:t>C0NCLUSI0N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B3A31-4E46-6CA6-61F9-8AC797A5A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1115" y="1707502"/>
            <a:ext cx="7035282" cy="5719665"/>
          </a:xfrm>
        </p:spPr>
        <p:txBody>
          <a:bodyPr>
            <a:noAutofit/>
          </a:bodyPr>
          <a:lstStyle/>
          <a:p>
            <a:r>
              <a:rPr lang="en-US" sz="3600" i="1" dirty="0">
                <a:solidFill>
                  <a:schemeClr val="accent1">
                    <a:lumMod val="75000"/>
                  </a:schemeClr>
                </a:solidFill>
              </a:rPr>
              <a:t>Ethical issues are inevitable but manageable through awareness, rules, and personal integrity</a:t>
            </a:r>
          </a:p>
          <a:p>
            <a:r>
              <a:rPr lang="en-US" sz="3600" i="1" dirty="0">
                <a:solidFill>
                  <a:schemeClr val="accent1">
                    <a:lumMod val="75000"/>
                  </a:schemeClr>
                </a:solidFill>
              </a:rPr>
              <a:t>.Responsible engineering ensures safety, trust, and sustainable development</a:t>
            </a:r>
          </a:p>
          <a:p>
            <a:r>
              <a:rPr lang="en-US" sz="3600" i="1" dirty="0">
                <a:solidFill>
                  <a:schemeClr val="accent1">
                    <a:lumMod val="75000"/>
                  </a:schemeClr>
                </a:solidFill>
              </a:rPr>
              <a:t>.Strong ethics build credibility and professional growth.</a:t>
            </a:r>
            <a:endParaRPr lang="en-IN" sz="36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E51CE9-CAE3-6CD3-1618-0F7B8B2F9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040" y="952500"/>
            <a:ext cx="3461657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34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36000">
              <a:srgbClr val="00B0F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71D16-76BF-145D-016D-656C7BC7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004" y="1091683"/>
            <a:ext cx="9552992" cy="5766318"/>
          </a:xfrm>
        </p:spPr>
        <p:txBody>
          <a:bodyPr>
            <a:normAutofit/>
          </a:bodyPr>
          <a:lstStyle/>
          <a:p>
            <a:r>
              <a:rPr lang="en-IN" sz="9600" b="1" i="1" dirty="0">
                <a:solidFill>
                  <a:srgbClr val="C00000"/>
                </a:solidFill>
                <a:latin typeface="Algerian" panose="04020705040A02060702" pitchFamily="82" charset="0"/>
              </a:rPr>
              <a:t>Thank</a:t>
            </a:r>
            <a:br>
              <a:rPr lang="en-IN" sz="9600" i="1" dirty="0">
                <a:solidFill>
                  <a:srgbClr val="C00000"/>
                </a:solidFill>
                <a:latin typeface="Algerian" panose="04020705040A02060702" pitchFamily="82" charset="0"/>
              </a:rPr>
            </a:br>
            <a:r>
              <a:rPr lang="en-IN" sz="9600" i="1" dirty="0">
                <a:solidFill>
                  <a:srgbClr val="C00000"/>
                </a:solidFill>
                <a:latin typeface="Algerian" panose="04020705040A02060702" pitchFamily="82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2123258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259</TotalTime>
  <Words>240</Words>
  <Application>Microsoft Office PowerPoint</Application>
  <PresentationFormat>Widescreen</PresentationFormat>
  <Paragraphs>37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Algerian</vt:lpstr>
      <vt:lpstr>Aptos</vt:lpstr>
      <vt:lpstr>Aptos Display</vt:lpstr>
      <vt:lpstr>Arial</vt:lpstr>
      <vt:lpstr>Arial Black</vt:lpstr>
      <vt:lpstr>Arial Rounded MT Bold</vt:lpstr>
      <vt:lpstr>Bahnschrift</vt:lpstr>
      <vt:lpstr>Garamond</vt:lpstr>
      <vt:lpstr>Organic</vt:lpstr>
      <vt:lpstr>Title-2 Issues in Engineering Ethics</vt:lpstr>
      <vt:lpstr>What is Engineering Ethics?</vt:lpstr>
      <vt:lpstr>IMPORTANCE OF ENGINEERING ETHCS</vt:lpstr>
      <vt:lpstr>COMMON ETHICAL ISSUE IN ENGINEERING ETHICS</vt:lpstr>
      <vt:lpstr>CAUSES OF ETHICAL ISSUES</vt:lpstr>
      <vt:lpstr>HOW TO ADDRESS ETHICAL ISSUES?</vt:lpstr>
      <vt:lpstr>C0NCLUSI0N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sp138857@outlook.com</dc:creator>
  <cp:lastModifiedBy>sp138857@outlook.com</cp:lastModifiedBy>
  <cp:revision>6</cp:revision>
  <dcterms:created xsi:type="dcterms:W3CDTF">2025-10-13T17:53:30Z</dcterms:created>
  <dcterms:modified xsi:type="dcterms:W3CDTF">2025-10-16T10:53:41Z</dcterms:modified>
</cp:coreProperties>
</file>